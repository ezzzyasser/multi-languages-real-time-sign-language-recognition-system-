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5A6A2A49-38FA-48D0-AC79-8487C8003014}" type="datetimeFigureOut">
              <a:rPr lang="en-GB" smtClean="0"/>
              <a:t>07/06/2024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3094443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A6A2A49-38FA-48D0-AC79-8487C8003014}" type="datetimeFigureOut">
              <a:rPr lang="en-GB" smtClean="0"/>
              <a:t>07/06/2024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4235154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A6A2A49-38FA-48D0-AC79-8487C8003014}" type="datetimeFigureOut">
              <a:rPr lang="en-GB" smtClean="0"/>
              <a:t>07/06/2024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4139403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5A6A2A49-38FA-48D0-AC79-8487C8003014}" type="datetimeFigureOut">
              <a:rPr lang="en-GB" smtClean="0"/>
              <a:t>07/06/2024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2033106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5A6A2A49-38FA-48D0-AC79-8487C8003014}" type="datetimeFigureOut">
              <a:rPr lang="en-GB" smtClean="0"/>
              <a:t>07/06/2024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2826846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5A6A2A49-38FA-48D0-AC79-8487C8003014}" type="datetimeFigureOut">
              <a:rPr lang="en-GB" smtClean="0"/>
              <a:t>07/06/2024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2400138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6A2A49-38FA-48D0-AC79-8487C8003014}" type="datetimeFigureOut">
              <a:rPr lang="en-GB" smtClean="0"/>
              <a:t>07/06/2024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1033285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6A2A49-38FA-48D0-AC79-8487C8003014}" type="datetimeFigureOut">
              <a:rPr lang="en-GB" smtClean="0"/>
              <a:t>07/06/2024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4113897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6A2A49-38FA-48D0-AC79-8487C8003014}" type="datetimeFigureOut">
              <a:rPr lang="en-GB" smtClean="0"/>
              <a:t>07/06/2024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1009836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A6A2A49-38FA-48D0-AC79-8487C8003014}" type="datetimeFigureOut">
              <a:rPr lang="en-GB" smtClean="0"/>
              <a:t>07/06/2024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1384969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A6A2A49-38FA-48D0-AC79-8487C8003014}" type="datetimeFigureOut">
              <a:rPr lang="en-GB" smtClean="0"/>
              <a:t>07/06/2024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6A7436-4E38-4979-988F-F38EE53F5FAA}" type="slidenum">
              <a:rPr lang="en-GB" smtClean="0"/>
              <a:t>‹#›</a:t>
            </a:fld>
            <a:endParaRPr lang="en-GB"/>
          </a:p>
        </p:txBody>
      </p:sp>
    </p:spTree>
    <p:extLst>
      <p:ext uri="{BB962C8B-B14F-4D97-AF65-F5344CB8AC3E}">
        <p14:creationId xmlns:p14="http://schemas.microsoft.com/office/powerpoint/2010/main" val="538457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6A2A49-38FA-48D0-AC79-8487C8003014}" type="datetimeFigureOut">
              <a:rPr lang="en-GB" smtClean="0"/>
              <a:t>07/06/2024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6A7436-4E38-4979-988F-F38EE53F5FAA}" type="slidenum">
              <a:rPr lang="en-GB" smtClean="0"/>
              <a:t>‹#›</a:t>
            </a:fld>
            <a:endParaRPr lang="en-GB"/>
          </a:p>
        </p:txBody>
      </p:sp>
    </p:spTree>
    <p:extLst>
      <p:ext uri="{BB962C8B-B14F-4D97-AF65-F5344CB8AC3E}">
        <p14:creationId xmlns:p14="http://schemas.microsoft.com/office/powerpoint/2010/main" val="2391008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1600" y="94277"/>
            <a:ext cx="12019280" cy="1119837"/>
          </a:xfrm>
          <a:ln>
            <a:solidFill>
              <a:schemeClr val="accent1"/>
            </a:solidFill>
          </a:ln>
        </p:spPr>
        <p:txBody>
          <a:bodyPr>
            <a:normAutofit fontScale="90000"/>
          </a:bodyPr>
          <a:lstStyle/>
          <a:p>
            <a:r>
              <a:rPr lang="en-US" sz="2000" dirty="0">
                <a:latin typeface="Arial" panose="020B0604020202020204" pitchFamily="34" charset="0"/>
                <a:cs typeface="Arial" panose="020B0604020202020204" pitchFamily="34" charset="0"/>
              </a:rPr>
              <a:t>Title :</a:t>
            </a:r>
            <a:br>
              <a:rPr lang="en-US" sz="2000" dirty="0">
                <a:latin typeface="Arial" panose="020B0604020202020204" pitchFamily="34" charset="0"/>
                <a:cs typeface="Arial" panose="020B0604020202020204" pitchFamily="34" charset="0"/>
              </a:rPr>
            </a:br>
            <a:r>
              <a:rPr lang="en-GB" sz="2000" dirty="0">
                <a:effectLst/>
                <a:latin typeface="Times New Roman" panose="02020603050405020304" pitchFamily="18" charset="0"/>
                <a:ea typeface="Calibri" panose="020F0502020204030204" pitchFamily="34" charset="0"/>
                <a:cs typeface="Arial" panose="020B0604020202020204" pitchFamily="34" charset="0"/>
              </a:rPr>
              <a:t>Integrative Real-Time Sign Language Recognition for Enhanced Communication</a:t>
            </a:r>
            <a:br>
              <a:rPr lang="en-GB" sz="1600" dirty="0">
                <a:effectLst/>
                <a:latin typeface="Times New Roman" panose="02020603050405020304" pitchFamily="18" charset="0"/>
                <a:ea typeface="Calibri" panose="020F050202020403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By: </a:t>
            </a:r>
            <a:r>
              <a:rPr lang="en-US" sz="2000" dirty="0" err="1">
                <a:latin typeface="Arial" panose="020B0604020202020204" pitchFamily="34" charset="0"/>
                <a:cs typeface="Arial" panose="020B0604020202020204" pitchFamily="34" charset="0"/>
              </a:rPr>
              <a:t>Ezzeldein</a:t>
            </a:r>
            <a:r>
              <a:rPr lang="en-US" sz="2000" dirty="0">
                <a:latin typeface="Arial" panose="020B0604020202020204" pitchFamily="34" charset="0"/>
                <a:cs typeface="Arial" panose="020B0604020202020204" pitchFamily="34" charset="0"/>
              </a:rPr>
              <a:t> yasser 206879						supervisor: Nermin Othman</a:t>
            </a:r>
            <a:endParaRPr lang="en-GB" sz="20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01600" y="1214117"/>
            <a:ext cx="3210767" cy="5549603"/>
          </a:xfrm>
          <a:ln>
            <a:solidFill>
              <a:schemeClr val="accent1"/>
            </a:solidFill>
          </a:ln>
        </p:spPr>
        <p:txBody>
          <a:bodyPr>
            <a:normAutofit fontScale="62500" lnSpcReduction="20000"/>
          </a:bodyPr>
          <a:lstStyle/>
          <a:p>
            <a:r>
              <a:rPr lang="en-US" sz="3800" dirty="0"/>
              <a:t>Abstract </a:t>
            </a:r>
          </a:p>
          <a:p>
            <a:r>
              <a:rPr lang="en-US" dirty="0"/>
              <a:t>Sign language is a crucial communication tool for the Deaf and mute community, yet a significant portion of the global population is unfamiliar with it, leading to communication barriers and isolation for Deaf individuals. To address this, modern machine learning and deep learning techniques have been used to develop a real-time fingerspelling application that translates sign language into text, enhancing interaction between Deaf individuals and those who do not know sign language. This project is significant in our diverse society, where effective communication solutions are needed for the growing number of individuals with hearing impairments, as highlighted by WHO statistics showing a rise from 278 million in 2005 to 466 million in 2019. By leveraging advanced technology and rigorous accuracy testing, this application aims to bridge the communication gap, fostering inclusivity and improving accessibility for the Deaf community, ultimately contributing to greater social integration and equality.</a:t>
            </a:r>
            <a:endParaRPr lang="en-GB" dirty="0"/>
          </a:p>
        </p:txBody>
      </p:sp>
      <p:sp>
        <p:nvSpPr>
          <p:cNvPr id="5" name="Subtitle 2"/>
          <p:cNvSpPr txBox="1">
            <a:spLocks/>
          </p:cNvSpPr>
          <p:nvPr/>
        </p:nvSpPr>
        <p:spPr>
          <a:xfrm>
            <a:off x="3312367" y="1214119"/>
            <a:ext cx="4609323" cy="5549603"/>
          </a:xfrm>
          <a:prstGeom prst="rect">
            <a:avLst/>
          </a:prstGeom>
          <a:ln>
            <a:solidFill>
              <a:schemeClr val="accent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System Design</a:t>
            </a:r>
          </a:p>
          <a:p>
            <a:endParaRPr lang="en-GB" dirty="0"/>
          </a:p>
        </p:txBody>
      </p:sp>
      <p:sp>
        <p:nvSpPr>
          <p:cNvPr id="6" name="Subtitle 2"/>
          <p:cNvSpPr txBox="1">
            <a:spLocks/>
          </p:cNvSpPr>
          <p:nvPr/>
        </p:nvSpPr>
        <p:spPr>
          <a:xfrm>
            <a:off x="7914113" y="1214117"/>
            <a:ext cx="4206767" cy="3052472"/>
          </a:xfrm>
          <a:prstGeom prst="rect">
            <a:avLst/>
          </a:prstGeom>
          <a:ln>
            <a:solidFill>
              <a:schemeClr val="accent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Image Results</a:t>
            </a:r>
          </a:p>
          <a:p>
            <a:endParaRPr lang="en-GB" dirty="0"/>
          </a:p>
        </p:txBody>
      </p:sp>
      <p:sp>
        <p:nvSpPr>
          <p:cNvPr id="7" name="Subtitle 2"/>
          <p:cNvSpPr txBox="1">
            <a:spLocks/>
          </p:cNvSpPr>
          <p:nvPr/>
        </p:nvSpPr>
        <p:spPr>
          <a:xfrm>
            <a:off x="7921690" y="4276406"/>
            <a:ext cx="4199190" cy="2487314"/>
          </a:xfrm>
          <a:prstGeom prst="rect">
            <a:avLst/>
          </a:prstGeom>
          <a:ln>
            <a:solidFill>
              <a:schemeClr val="accent1"/>
            </a:solidFill>
          </a:ln>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Conclusions</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3040" y="165397"/>
            <a:ext cx="949401" cy="394440"/>
          </a:xfrm>
          <a:prstGeom prst="rect">
            <a:avLst/>
          </a:prstGeom>
        </p:spPr>
      </p:pic>
      <p:sp>
        <p:nvSpPr>
          <p:cNvPr id="15" name="TextBox 14">
            <a:extLst>
              <a:ext uri="{FF2B5EF4-FFF2-40B4-BE49-F238E27FC236}">
                <a16:creationId xmlns:a16="http://schemas.microsoft.com/office/drawing/2014/main" id="{81154366-224D-FDB3-659F-075FA87CBF5F}"/>
              </a:ext>
            </a:extLst>
          </p:cNvPr>
          <p:cNvSpPr txBox="1"/>
          <p:nvPr/>
        </p:nvSpPr>
        <p:spPr>
          <a:xfrm>
            <a:off x="5205641" y="1658378"/>
            <a:ext cx="815198" cy="323165"/>
          </a:xfrm>
          <a:prstGeom prst="rect">
            <a:avLst/>
          </a:prstGeom>
          <a:noFill/>
        </p:spPr>
        <p:txBody>
          <a:bodyPr wrap="square" rtlCol="0">
            <a:spAutoFit/>
          </a:bodyPr>
          <a:lstStyle/>
          <a:p>
            <a:r>
              <a:rPr lang="en-US" sz="1500" dirty="0"/>
              <a:t>pipeline</a:t>
            </a:r>
            <a:endParaRPr lang="en-GB" sz="1500" dirty="0"/>
          </a:p>
        </p:txBody>
      </p:sp>
      <p:pic>
        <p:nvPicPr>
          <p:cNvPr id="17" name="Picture 16" descr="A black background with a black square&#10;&#10;Description automatically generated with medium confidence">
            <a:extLst>
              <a:ext uri="{FF2B5EF4-FFF2-40B4-BE49-F238E27FC236}">
                <a16:creationId xmlns:a16="http://schemas.microsoft.com/office/drawing/2014/main" id="{F982F1B3-0476-EC3F-A559-86647853CC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7715" y="1981543"/>
            <a:ext cx="2498627" cy="4498526"/>
          </a:xfrm>
          <a:prstGeom prst="rect">
            <a:avLst/>
          </a:prstGeom>
        </p:spPr>
      </p:pic>
      <p:pic>
        <p:nvPicPr>
          <p:cNvPr id="19" name="Picture 18">
            <a:extLst>
              <a:ext uri="{FF2B5EF4-FFF2-40B4-BE49-F238E27FC236}">
                <a16:creationId xmlns:a16="http://schemas.microsoft.com/office/drawing/2014/main" id="{C85AFEEE-79EE-4446-9078-71D75C5140B7}"/>
              </a:ext>
            </a:extLst>
          </p:cNvPr>
          <p:cNvPicPr>
            <a:picLocks noChangeAspect="1"/>
          </p:cNvPicPr>
          <p:nvPr/>
        </p:nvPicPr>
        <p:blipFill>
          <a:blip r:embed="rId4"/>
          <a:stretch>
            <a:fillRect/>
          </a:stretch>
        </p:blipFill>
        <p:spPr>
          <a:xfrm>
            <a:off x="9221073" y="2016255"/>
            <a:ext cx="1600423" cy="133369"/>
          </a:xfrm>
          <a:prstGeom prst="rect">
            <a:avLst/>
          </a:prstGeom>
        </p:spPr>
      </p:pic>
      <p:pic>
        <p:nvPicPr>
          <p:cNvPr id="21" name="Picture 20">
            <a:extLst>
              <a:ext uri="{FF2B5EF4-FFF2-40B4-BE49-F238E27FC236}">
                <a16:creationId xmlns:a16="http://schemas.microsoft.com/office/drawing/2014/main" id="{94CF2C3B-20CA-1365-58AA-450E5C38D782}"/>
              </a:ext>
            </a:extLst>
          </p:cNvPr>
          <p:cNvPicPr>
            <a:picLocks noChangeAspect="1"/>
          </p:cNvPicPr>
          <p:nvPr/>
        </p:nvPicPr>
        <p:blipFill>
          <a:blip r:embed="rId5"/>
          <a:stretch>
            <a:fillRect/>
          </a:stretch>
        </p:blipFill>
        <p:spPr>
          <a:xfrm>
            <a:off x="9026794" y="2570632"/>
            <a:ext cx="1971950" cy="152421"/>
          </a:xfrm>
          <a:prstGeom prst="rect">
            <a:avLst/>
          </a:prstGeom>
        </p:spPr>
      </p:pic>
      <p:pic>
        <p:nvPicPr>
          <p:cNvPr id="23" name="Picture 22">
            <a:extLst>
              <a:ext uri="{FF2B5EF4-FFF2-40B4-BE49-F238E27FC236}">
                <a16:creationId xmlns:a16="http://schemas.microsoft.com/office/drawing/2014/main" id="{41370CB9-8873-5A0B-439B-07856DB694FB}"/>
              </a:ext>
            </a:extLst>
          </p:cNvPr>
          <p:cNvPicPr>
            <a:picLocks noChangeAspect="1"/>
          </p:cNvPicPr>
          <p:nvPr/>
        </p:nvPicPr>
        <p:blipFill>
          <a:blip r:embed="rId6"/>
          <a:stretch>
            <a:fillRect/>
          </a:stretch>
        </p:blipFill>
        <p:spPr>
          <a:xfrm>
            <a:off x="9259176" y="3082762"/>
            <a:ext cx="1524213" cy="133369"/>
          </a:xfrm>
          <a:prstGeom prst="rect">
            <a:avLst/>
          </a:prstGeom>
        </p:spPr>
      </p:pic>
      <p:pic>
        <p:nvPicPr>
          <p:cNvPr id="25" name="Picture 24">
            <a:extLst>
              <a:ext uri="{FF2B5EF4-FFF2-40B4-BE49-F238E27FC236}">
                <a16:creationId xmlns:a16="http://schemas.microsoft.com/office/drawing/2014/main" id="{B5CE8F23-A4BC-35BF-960E-95697FF98BE5}"/>
              </a:ext>
            </a:extLst>
          </p:cNvPr>
          <p:cNvPicPr>
            <a:picLocks noChangeAspect="1"/>
          </p:cNvPicPr>
          <p:nvPr/>
        </p:nvPicPr>
        <p:blipFill>
          <a:blip r:embed="rId7"/>
          <a:stretch>
            <a:fillRect/>
          </a:stretch>
        </p:blipFill>
        <p:spPr>
          <a:xfrm>
            <a:off x="9134576" y="4019355"/>
            <a:ext cx="1819529" cy="152421"/>
          </a:xfrm>
          <a:prstGeom prst="rect">
            <a:avLst/>
          </a:prstGeom>
        </p:spPr>
      </p:pic>
      <p:sp>
        <p:nvSpPr>
          <p:cNvPr id="26" name="TextBox 25">
            <a:extLst>
              <a:ext uri="{FF2B5EF4-FFF2-40B4-BE49-F238E27FC236}">
                <a16:creationId xmlns:a16="http://schemas.microsoft.com/office/drawing/2014/main" id="{8AF99107-82F6-01B2-5D1C-B703923EBA4C}"/>
              </a:ext>
            </a:extLst>
          </p:cNvPr>
          <p:cNvSpPr txBox="1"/>
          <p:nvPr/>
        </p:nvSpPr>
        <p:spPr>
          <a:xfrm>
            <a:off x="9496374" y="1655407"/>
            <a:ext cx="1042244" cy="307777"/>
          </a:xfrm>
          <a:prstGeom prst="rect">
            <a:avLst/>
          </a:prstGeom>
          <a:noFill/>
        </p:spPr>
        <p:txBody>
          <a:bodyPr wrap="square" rtlCol="0">
            <a:spAutoFit/>
          </a:bodyPr>
          <a:lstStyle/>
          <a:p>
            <a:pPr algn="ctr"/>
            <a:r>
              <a:rPr lang="en-US" sz="1400" dirty="0"/>
              <a:t>SVM Result</a:t>
            </a:r>
            <a:endParaRPr lang="en-GB" dirty="0"/>
          </a:p>
        </p:txBody>
      </p:sp>
      <p:sp>
        <p:nvSpPr>
          <p:cNvPr id="27" name="TextBox 26">
            <a:extLst>
              <a:ext uri="{FF2B5EF4-FFF2-40B4-BE49-F238E27FC236}">
                <a16:creationId xmlns:a16="http://schemas.microsoft.com/office/drawing/2014/main" id="{E166FA43-8EBA-102A-CBAA-F831EFA2E1FF}"/>
              </a:ext>
            </a:extLst>
          </p:cNvPr>
          <p:cNvSpPr txBox="1"/>
          <p:nvPr/>
        </p:nvSpPr>
        <p:spPr>
          <a:xfrm>
            <a:off x="9150265" y="2235275"/>
            <a:ext cx="1742040" cy="307777"/>
          </a:xfrm>
          <a:prstGeom prst="rect">
            <a:avLst/>
          </a:prstGeom>
          <a:noFill/>
        </p:spPr>
        <p:txBody>
          <a:bodyPr wrap="square" rtlCol="0">
            <a:spAutoFit/>
          </a:bodyPr>
          <a:lstStyle/>
          <a:p>
            <a:pPr algn="ctr"/>
            <a:r>
              <a:rPr lang="en-US" sz="1400" dirty="0"/>
              <a:t>EfficientNetB0 Result</a:t>
            </a:r>
            <a:endParaRPr lang="en-GB" sz="1400" dirty="0"/>
          </a:p>
        </p:txBody>
      </p:sp>
      <p:sp>
        <p:nvSpPr>
          <p:cNvPr id="28" name="TextBox 27">
            <a:extLst>
              <a:ext uri="{FF2B5EF4-FFF2-40B4-BE49-F238E27FC236}">
                <a16:creationId xmlns:a16="http://schemas.microsoft.com/office/drawing/2014/main" id="{B954BBC2-2FC7-A7A7-BA24-15AB7DD1C8B0}"/>
              </a:ext>
            </a:extLst>
          </p:cNvPr>
          <p:cNvSpPr txBox="1"/>
          <p:nvPr/>
        </p:nvSpPr>
        <p:spPr>
          <a:xfrm>
            <a:off x="9519351" y="2782135"/>
            <a:ext cx="1003865" cy="307777"/>
          </a:xfrm>
          <a:prstGeom prst="rect">
            <a:avLst/>
          </a:prstGeom>
          <a:noFill/>
        </p:spPr>
        <p:txBody>
          <a:bodyPr wrap="none" rtlCol="0">
            <a:spAutoFit/>
          </a:bodyPr>
          <a:lstStyle/>
          <a:p>
            <a:pPr algn="ctr"/>
            <a:r>
              <a:rPr lang="en-US" sz="1400" dirty="0"/>
              <a:t>CNN Result</a:t>
            </a:r>
            <a:endParaRPr lang="en-GB" sz="1400" dirty="0"/>
          </a:p>
        </p:txBody>
      </p:sp>
      <p:sp>
        <p:nvSpPr>
          <p:cNvPr id="29" name="TextBox 28">
            <a:extLst>
              <a:ext uri="{FF2B5EF4-FFF2-40B4-BE49-F238E27FC236}">
                <a16:creationId xmlns:a16="http://schemas.microsoft.com/office/drawing/2014/main" id="{3B2FAA7B-8282-CB82-9AB8-8690DAF9F8F1}"/>
              </a:ext>
            </a:extLst>
          </p:cNvPr>
          <p:cNvSpPr txBox="1"/>
          <p:nvPr/>
        </p:nvSpPr>
        <p:spPr>
          <a:xfrm>
            <a:off x="9391701" y="3655945"/>
            <a:ext cx="1242135" cy="307777"/>
          </a:xfrm>
          <a:prstGeom prst="rect">
            <a:avLst/>
          </a:prstGeom>
          <a:noFill/>
        </p:spPr>
        <p:txBody>
          <a:bodyPr wrap="none" rtlCol="0">
            <a:spAutoFit/>
          </a:bodyPr>
          <a:lstStyle/>
          <a:p>
            <a:pPr algn="ctr"/>
            <a:r>
              <a:rPr lang="en-US" sz="1400" dirty="0"/>
              <a:t>VGG-19 Result</a:t>
            </a:r>
            <a:endParaRPr lang="en-GB" sz="1400" dirty="0"/>
          </a:p>
        </p:txBody>
      </p:sp>
      <p:sp>
        <p:nvSpPr>
          <p:cNvPr id="31" name="TextBox 30">
            <a:extLst>
              <a:ext uri="{FF2B5EF4-FFF2-40B4-BE49-F238E27FC236}">
                <a16:creationId xmlns:a16="http://schemas.microsoft.com/office/drawing/2014/main" id="{06C65D91-3587-6DA9-DB71-A2B623190A51}"/>
              </a:ext>
            </a:extLst>
          </p:cNvPr>
          <p:cNvSpPr txBox="1"/>
          <p:nvPr/>
        </p:nvSpPr>
        <p:spPr>
          <a:xfrm>
            <a:off x="8576999" y="3308454"/>
            <a:ext cx="2891089" cy="461665"/>
          </a:xfrm>
          <a:prstGeom prst="rect">
            <a:avLst/>
          </a:prstGeom>
          <a:noFill/>
        </p:spPr>
        <p:txBody>
          <a:bodyPr wrap="square">
            <a:spAutoFit/>
          </a:bodyPr>
          <a:lstStyle/>
          <a:p>
            <a:r>
              <a:rPr lang="en-US" sz="2400" dirty="0"/>
              <a:t>Video (frames) Result</a:t>
            </a:r>
            <a:endParaRPr lang="en-GB" sz="2400" dirty="0"/>
          </a:p>
        </p:txBody>
      </p:sp>
      <p:sp>
        <p:nvSpPr>
          <p:cNvPr id="33" name="TextBox 32">
            <a:extLst>
              <a:ext uri="{FF2B5EF4-FFF2-40B4-BE49-F238E27FC236}">
                <a16:creationId xmlns:a16="http://schemas.microsoft.com/office/drawing/2014/main" id="{0065194D-489E-B48F-A4D3-FD32C2D9B9BA}"/>
              </a:ext>
            </a:extLst>
          </p:cNvPr>
          <p:cNvSpPr txBox="1"/>
          <p:nvPr/>
        </p:nvSpPr>
        <p:spPr>
          <a:xfrm>
            <a:off x="7914114" y="4554433"/>
            <a:ext cx="4224754" cy="461665"/>
          </a:xfrm>
          <a:prstGeom prst="rect">
            <a:avLst/>
          </a:prstGeom>
          <a:noFill/>
        </p:spPr>
        <p:txBody>
          <a:bodyPr wrap="square">
            <a:spAutoFit/>
          </a:bodyPr>
          <a:lstStyle/>
          <a:p>
            <a:r>
              <a:rPr lang="en-US" sz="1200" dirty="0"/>
              <a:t>This project developed a system for translating sign language into text using various models:</a:t>
            </a:r>
            <a:endParaRPr lang="en-GB" sz="1200" dirty="0"/>
          </a:p>
        </p:txBody>
      </p:sp>
      <p:sp>
        <p:nvSpPr>
          <p:cNvPr id="36" name="TextBox 35">
            <a:extLst>
              <a:ext uri="{FF2B5EF4-FFF2-40B4-BE49-F238E27FC236}">
                <a16:creationId xmlns:a16="http://schemas.microsoft.com/office/drawing/2014/main" id="{5772427E-991A-FEBC-30D9-7D098A75CC23}"/>
              </a:ext>
            </a:extLst>
          </p:cNvPr>
          <p:cNvSpPr txBox="1"/>
          <p:nvPr/>
        </p:nvSpPr>
        <p:spPr>
          <a:xfrm>
            <a:off x="7942316" y="4959875"/>
            <a:ext cx="2168955" cy="1785104"/>
          </a:xfrm>
          <a:prstGeom prst="rect">
            <a:avLst/>
          </a:prstGeom>
          <a:noFill/>
        </p:spPr>
        <p:txBody>
          <a:bodyPr wrap="square" rtlCol="0">
            <a:spAutoFit/>
          </a:bodyPr>
          <a:lstStyle/>
          <a:p>
            <a:r>
              <a:rPr lang="en-GB" sz="1000" dirty="0"/>
              <a:t>1.Model Development:</a:t>
            </a:r>
          </a:p>
          <a:p>
            <a:pPr marL="285750" indent="-285750">
              <a:buFont typeface="Arial" panose="020B0604020202020204" pitchFamily="34" charset="0"/>
              <a:buChar char="•"/>
            </a:pPr>
            <a:r>
              <a:rPr lang="en-GB" sz="1000" dirty="0"/>
              <a:t>CNN: 96.53% accuracy on ASL.</a:t>
            </a:r>
          </a:p>
          <a:p>
            <a:pPr marL="285750" indent="-285750">
              <a:buFont typeface="Arial" panose="020B0604020202020204" pitchFamily="34" charset="0"/>
              <a:buChar char="•"/>
            </a:pPr>
            <a:r>
              <a:rPr lang="en-GB" sz="1000" dirty="0"/>
              <a:t>VGG19: 100% training accuracy but overfitted.</a:t>
            </a:r>
          </a:p>
          <a:p>
            <a:pPr marL="285750" indent="-285750">
              <a:buFont typeface="Arial" panose="020B0604020202020204" pitchFamily="34" charset="0"/>
              <a:buChar char="•"/>
            </a:pPr>
            <a:r>
              <a:rPr lang="en-GB" sz="1000" dirty="0"/>
              <a:t>EfficientNetB0: 99.7% accuracy, highest performance.</a:t>
            </a:r>
          </a:p>
          <a:p>
            <a:endParaRPr lang="en-GB" sz="1000" dirty="0"/>
          </a:p>
          <a:p>
            <a:r>
              <a:rPr lang="en-GB" sz="1000" dirty="0"/>
              <a:t>2.Comparative Analysis:</a:t>
            </a:r>
          </a:p>
          <a:p>
            <a:r>
              <a:rPr lang="en-GB" sz="1000" dirty="0"/>
              <a:t>EfficientNetB0 outperformed SVM in accuracy but required more computational resources.</a:t>
            </a:r>
          </a:p>
        </p:txBody>
      </p:sp>
      <p:sp>
        <p:nvSpPr>
          <p:cNvPr id="42" name="TextBox 41">
            <a:extLst>
              <a:ext uri="{FF2B5EF4-FFF2-40B4-BE49-F238E27FC236}">
                <a16:creationId xmlns:a16="http://schemas.microsoft.com/office/drawing/2014/main" id="{5A1456F0-6D84-D4E7-173F-90B860ECA74D}"/>
              </a:ext>
            </a:extLst>
          </p:cNvPr>
          <p:cNvSpPr txBox="1"/>
          <p:nvPr/>
        </p:nvSpPr>
        <p:spPr>
          <a:xfrm>
            <a:off x="9964185" y="4950505"/>
            <a:ext cx="2069118" cy="1785104"/>
          </a:xfrm>
          <a:prstGeom prst="rect">
            <a:avLst/>
          </a:prstGeom>
          <a:noFill/>
        </p:spPr>
        <p:txBody>
          <a:bodyPr wrap="square" rtlCol="0">
            <a:spAutoFit/>
          </a:bodyPr>
          <a:lstStyle/>
          <a:p>
            <a:r>
              <a:rPr lang="en-US" sz="1000" dirty="0"/>
              <a:t>3.Video Recognition:</a:t>
            </a:r>
          </a:p>
          <a:p>
            <a:r>
              <a:rPr lang="en-US" sz="1000" dirty="0"/>
              <a:t>Improved performance with LSTM and VGG19 models using background removal and feature extraction.</a:t>
            </a:r>
          </a:p>
          <a:p>
            <a:endParaRPr lang="en-US" sz="1000" dirty="0"/>
          </a:p>
          <a:p>
            <a:r>
              <a:rPr lang="en-US" sz="1000" dirty="0"/>
              <a:t>4.Real-Time Application:</a:t>
            </a:r>
          </a:p>
          <a:p>
            <a:r>
              <a:rPr lang="en-US" sz="1000" dirty="0"/>
              <a:t>Created a real-time system translating gestures to text via webcam, enhancing user interaction and accessibility.</a:t>
            </a:r>
            <a:endParaRPr lang="en-GB" sz="1000" dirty="0"/>
          </a:p>
        </p:txBody>
      </p:sp>
    </p:spTree>
    <p:extLst>
      <p:ext uri="{BB962C8B-B14F-4D97-AF65-F5344CB8AC3E}">
        <p14:creationId xmlns:p14="http://schemas.microsoft.com/office/powerpoint/2010/main" val="4116446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TotalTime>
  <Words>310</Words>
  <Application>Microsoft Office PowerPoint</Application>
  <PresentationFormat>Widescreen</PresentationFormat>
  <Paragraphs>25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Title : Integrative Real-Time Sign Language Recognition for Enhanced Communication  By: Ezzeldein yasser 206879      supervisor: Nermin Othman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 by        supervisor</dc:title>
  <dc:creator>Windows User</dc:creator>
  <cp:lastModifiedBy>ezz</cp:lastModifiedBy>
  <cp:revision>6</cp:revision>
  <dcterms:created xsi:type="dcterms:W3CDTF">2022-05-24T14:49:20Z</dcterms:created>
  <dcterms:modified xsi:type="dcterms:W3CDTF">2024-06-07T18:40:11Z</dcterms:modified>
</cp:coreProperties>
</file>